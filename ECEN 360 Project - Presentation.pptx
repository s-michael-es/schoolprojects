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Nunito"/>
      <p:regular r:id="rId18"/>
      <p:bold r:id="rId19"/>
      <p:italic r:id="rId20"/>
      <p:boldItalic r:id="rId21"/>
    </p:embeddedFont>
    <p:embeddedFont>
      <p:font typeface="Maven Pro"/>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italic.fntdata"/><Relationship Id="rId11" Type="http://schemas.openxmlformats.org/officeDocument/2006/relationships/slide" Target="slides/slide6.xml"/><Relationship Id="rId22" Type="http://schemas.openxmlformats.org/officeDocument/2006/relationships/font" Target="fonts/MavenPro-regular.fntdata"/><Relationship Id="rId10" Type="http://schemas.openxmlformats.org/officeDocument/2006/relationships/slide" Target="slides/slide5.xml"/><Relationship Id="rId21" Type="http://schemas.openxmlformats.org/officeDocument/2006/relationships/font" Target="fonts/Nunito-boldItalic.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MavenPr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unito-bold.fntdata"/><Relationship Id="rId6" Type="http://schemas.openxmlformats.org/officeDocument/2006/relationships/slide" Target="slides/slide1.xml"/><Relationship Id="rId18" Type="http://schemas.openxmlformats.org/officeDocument/2006/relationships/font" Target="fonts/Nuni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6fb1139ba2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6fb1139ba2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john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6fb1139ba2_0_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6fb1139ba2_0_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austin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6fb1139ba2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6fb1139ba2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austin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6fb170c83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6fb170c8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zain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6fc5b7463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6fc5b7463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michael</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6fc5b7463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6fc5b7463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michael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6fb1139ba2_0_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26fb1139ba2_0_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zain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6fb1139ba2_0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26fb1139ba2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john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6fb1139ba2_0_6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26fb1139ba2_0_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zain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6fb1139ba2_0_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6fb1139ba2_0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austin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6fb1139ba2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6fb1139ba2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zain.bharde@tamu.edu" TargetMode="External"/><Relationship Id="rId4" Type="http://schemas.openxmlformats.org/officeDocument/2006/relationships/hyperlink" Target="mailto:smestamu@tamu.edu" TargetMode="External"/><Relationship Id="rId5" Type="http://schemas.openxmlformats.org/officeDocument/2006/relationships/hyperlink" Target="mailto:johnmutammara@tamu.edu" TargetMode="External"/><Relationship Id="rId6" Type="http://schemas.openxmlformats.org/officeDocument/2006/relationships/hyperlink" Target="mailto:austingo@tamu.edu"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aquicktimeout.com/dean-olivers-four-factors-for-basketball-success/" TargetMode="External"/><Relationship Id="rId4" Type="http://schemas.openxmlformats.org/officeDocument/2006/relationships/hyperlink" Target="https://www.three-man-weave.com/3mw/college-basketball-budgets-2022" TargetMode="External"/><Relationship Id="rId10" Type="http://schemas.openxmlformats.org/officeDocument/2006/relationships/hyperlink" Target="https://console.cloud.google.com/bigquery?p=bigquery-public-data&amp;d=ncaa_basketball&amp;page=dataset&amp;project=ecen-project-418021&amp;ws=!1m9!1m4!4m3!1sbigquery-public-data!2sncaa_basketball!3smbb_games_sr!1m3!3m2!1sbigquery-public-data!2sncaa_basketball&amp;authuser=1" TargetMode="External"/><Relationship Id="rId9" Type="http://schemas.openxmlformats.org/officeDocument/2006/relationships/hyperlink" Target="https://stats.ncaa.org/rankings?sport_code=MBB" TargetMode="External"/><Relationship Id="rId5" Type="http://schemas.openxmlformats.org/officeDocument/2006/relationships/hyperlink" Target="https://ope.ed.gov/athletics/#/" TargetMode="External"/><Relationship Id="rId6" Type="http://schemas.openxmlformats.org/officeDocument/2006/relationships/hyperlink" Target="http://fs.ncaa.org/Docs/stats/m_basketball_RB/2024/Attend.pdf" TargetMode="External"/><Relationship Id="rId7" Type="http://schemas.openxmlformats.org/officeDocument/2006/relationships/hyperlink" Target="https://scikit-learn.org/stable/modules/generated/sklearn.feature_selection.mutual_info_regression.html" TargetMode="External"/><Relationship Id="rId8" Type="http://schemas.openxmlformats.org/officeDocument/2006/relationships/hyperlink" Target="https://scikit-learn.org/stable/modules/generated/sklearn.ensemble.RandomForestClassifier.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311708" y="2059575"/>
            <a:ext cx="8520600" cy="2052600"/>
          </a:xfrm>
          <a:prstGeom prst="rect">
            <a:avLst/>
          </a:prstGeom>
        </p:spPr>
        <p:txBody>
          <a:bodyPr anchorCtr="0" anchor="ctr" bIns="91425" lIns="91425" spcFirstLastPara="1" rIns="91425" wrap="square" tIns="91425">
            <a:noAutofit/>
          </a:bodyPr>
          <a:lstStyle/>
          <a:p>
            <a:pPr indent="457200" lvl="0" marL="0" rtl="0" algn="ctr">
              <a:lnSpc>
                <a:spcPct val="115000"/>
              </a:lnSpc>
              <a:spcBef>
                <a:spcPts val="0"/>
              </a:spcBef>
              <a:spcAft>
                <a:spcPts val="0"/>
              </a:spcAft>
              <a:buClr>
                <a:schemeClr val="dk1"/>
              </a:buClr>
              <a:buSzPts val="1100"/>
              <a:buFont typeface="Arial"/>
              <a:buNone/>
            </a:pPr>
            <a:r>
              <a:rPr lang="en" sz="1700">
                <a:latin typeface="Times New Roman"/>
                <a:ea typeface="Times New Roman"/>
                <a:cs typeface="Times New Roman"/>
                <a:sym typeface="Times New Roman"/>
              </a:rPr>
              <a:t>Identifying Trivial Factors Correlated </a:t>
            </a:r>
            <a:r>
              <a:rPr b="1" lang="en" sz="1700">
                <a:latin typeface="Times New Roman"/>
                <a:ea typeface="Times New Roman"/>
                <a:cs typeface="Times New Roman"/>
                <a:sym typeface="Times New Roman"/>
              </a:rPr>
              <a:t>to Men’s NCAA </a:t>
            </a:r>
            <a:r>
              <a:rPr lang="en" sz="1700">
                <a:latin typeface="Times New Roman"/>
                <a:ea typeface="Times New Roman"/>
                <a:cs typeface="Times New Roman"/>
                <a:sym typeface="Times New Roman"/>
              </a:rPr>
              <a:t>D1 Basketball Outcomes</a:t>
            </a:r>
            <a:endParaRPr sz="1700">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 sz="1700">
                <a:latin typeface="Times New Roman"/>
                <a:ea typeface="Times New Roman"/>
                <a:cs typeface="Times New Roman"/>
                <a:sym typeface="Times New Roman"/>
              </a:rPr>
              <a:t>Zain Bharde, TAMU, </a:t>
            </a:r>
            <a:r>
              <a:rPr lang="en" sz="1700" u="sng">
                <a:solidFill>
                  <a:srgbClr val="1155CC"/>
                </a:solidFill>
                <a:latin typeface="Times New Roman"/>
                <a:ea typeface="Times New Roman"/>
                <a:cs typeface="Times New Roman"/>
                <a:sym typeface="Times New Roman"/>
                <a:hlinkClick r:id="rId3">
                  <a:extLst>
                    <a:ext uri="{A12FA001-AC4F-418D-AE19-62706E023703}">
                      <ahyp:hlinkClr val="tx"/>
                    </a:ext>
                  </a:extLst>
                </a:hlinkClick>
              </a:rPr>
              <a:t>zain.bharde@tamu.edu</a:t>
            </a:r>
            <a:r>
              <a:rPr lang="en" sz="1700">
                <a:latin typeface="Times New Roman"/>
                <a:ea typeface="Times New Roman"/>
                <a:cs typeface="Times New Roman"/>
                <a:sym typeface="Times New Roman"/>
              </a:rPr>
              <a:t>, Member</a:t>
            </a:r>
            <a:endParaRPr sz="1700">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 sz="1700">
                <a:latin typeface="Times New Roman"/>
                <a:ea typeface="Times New Roman"/>
                <a:cs typeface="Times New Roman"/>
                <a:sym typeface="Times New Roman"/>
              </a:rPr>
              <a:t>Michael Edwards-Sarver, TAMU, </a:t>
            </a:r>
            <a:r>
              <a:rPr lang="en" sz="1700" u="sng">
                <a:solidFill>
                  <a:srgbClr val="1155CC"/>
                </a:solidFill>
                <a:latin typeface="Times New Roman"/>
                <a:ea typeface="Times New Roman"/>
                <a:cs typeface="Times New Roman"/>
                <a:sym typeface="Times New Roman"/>
                <a:hlinkClick r:id="rId4">
                  <a:extLst>
                    <a:ext uri="{A12FA001-AC4F-418D-AE19-62706E023703}">
                      <ahyp:hlinkClr val="tx"/>
                    </a:ext>
                  </a:extLst>
                </a:hlinkClick>
              </a:rPr>
              <a:t>smestamu@tamu.edu</a:t>
            </a:r>
            <a:r>
              <a:rPr lang="en" sz="1700">
                <a:latin typeface="Times New Roman"/>
                <a:ea typeface="Times New Roman"/>
                <a:cs typeface="Times New Roman"/>
                <a:sym typeface="Times New Roman"/>
              </a:rPr>
              <a:t>, Member</a:t>
            </a:r>
            <a:endParaRPr sz="1700">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 sz="1700">
                <a:latin typeface="Times New Roman"/>
                <a:ea typeface="Times New Roman"/>
                <a:cs typeface="Times New Roman"/>
                <a:sym typeface="Times New Roman"/>
              </a:rPr>
              <a:t>John Mutammara, TAMU, </a:t>
            </a:r>
            <a:r>
              <a:rPr lang="en" sz="1700" u="sng">
                <a:solidFill>
                  <a:srgbClr val="1155CC"/>
                </a:solidFill>
                <a:latin typeface="Times New Roman"/>
                <a:ea typeface="Times New Roman"/>
                <a:cs typeface="Times New Roman"/>
                <a:sym typeface="Times New Roman"/>
                <a:hlinkClick r:id="rId5">
                  <a:extLst>
                    <a:ext uri="{A12FA001-AC4F-418D-AE19-62706E023703}">
                      <ahyp:hlinkClr val="tx"/>
                    </a:ext>
                  </a:extLst>
                </a:hlinkClick>
              </a:rPr>
              <a:t>johnmutammara@tamu.edu</a:t>
            </a:r>
            <a:r>
              <a:rPr lang="en" sz="1700">
                <a:latin typeface="Times New Roman"/>
                <a:ea typeface="Times New Roman"/>
                <a:cs typeface="Times New Roman"/>
                <a:sym typeface="Times New Roman"/>
              </a:rPr>
              <a:t>, Member</a:t>
            </a:r>
            <a:endParaRPr sz="1700">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 sz="1700">
                <a:latin typeface="Times New Roman"/>
                <a:ea typeface="Times New Roman"/>
                <a:cs typeface="Times New Roman"/>
                <a:sym typeface="Times New Roman"/>
              </a:rPr>
              <a:t>Austin Ngo, TAMU, </a:t>
            </a:r>
            <a:r>
              <a:rPr lang="en" sz="1700" u="sng">
                <a:solidFill>
                  <a:srgbClr val="1155CC"/>
                </a:solidFill>
                <a:latin typeface="Times New Roman"/>
                <a:ea typeface="Times New Roman"/>
                <a:cs typeface="Times New Roman"/>
                <a:sym typeface="Times New Roman"/>
                <a:hlinkClick r:id="rId6">
                  <a:extLst>
                    <a:ext uri="{A12FA001-AC4F-418D-AE19-62706E023703}">
                      <ahyp:hlinkClr val="tx"/>
                    </a:ext>
                  </a:extLst>
                </a:hlinkClick>
              </a:rPr>
              <a:t>austingo@tamu.edu</a:t>
            </a:r>
            <a:r>
              <a:rPr lang="en" sz="1700">
                <a:latin typeface="Times New Roman"/>
                <a:ea typeface="Times New Roman"/>
                <a:cs typeface="Times New Roman"/>
                <a:sym typeface="Times New Roman"/>
              </a:rPr>
              <a:t>, Member</a:t>
            </a:r>
            <a:endParaRPr sz="1700">
              <a:latin typeface="Times New Roman"/>
              <a:ea typeface="Times New Roman"/>
              <a:cs typeface="Times New Roman"/>
              <a:sym typeface="Times New Roman"/>
            </a:endParaRPr>
          </a:p>
          <a:p>
            <a:pPr indent="0" lvl="0" marL="0" rtl="0" algn="l">
              <a:spcBef>
                <a:spcPts val="0"/>
              </a:spcBef>
              <a:spcAft>
                <a:spcPts val="0"/>
              </a:spcAft>
              <a:buNone/>
            </a:pPr>
            <a:r>
              <a:t/>
            </a:r>
            <a:endParaRPr sz="1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Abstract</a:t>
            </a:r>
            <a:endParaRPr/>
          </a:p>
        </p:txBody>
      </p:sp>
      <p:sp>
        <p:nvSpPr>
          <p:cNvPr id="283" name="Google Shape;283;p14"/>
          <p:cNvSpPr txBox="1"/>
          <p:nvPr>
            <p:ph idx="1" type="body"/>
          </p:nvPr>
        </p:nvSpPr>
        <p:spPr>
          <a:xfrm>
            <a:off x="1166125" y="1799800"/>
            <a:ext cx="3115500" cy="25416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935"/>
              <a:buNone/>
            </a:pPr>
            <a:r>
              <a:rPr lang="en" sz="1375"/>
              <a:t>When</a:t>
            </a:r>
            <a:r>
              <a:rPr lang="en" sz="1375"/>
              <a:t> predicting who is going to win a basketball game, many look towards the clear factors such as shooting percentage, defensive formations, rebounding skill, etc. But what if there were different </a:t>
            </a:r>
            <a:r>
              <a:rPr lang="en" sz="1375"/>
              <a:t>factors</a:t>
            </a:r>
            <a:r>
              <a:rPr lang="en" sz="1375"/>
              <a:t> that impacted the chances a team has to win? Our team was wondering that exact same question and put it to the test. For our project we sought to discover such </a:t>
            </a:r>
            <a:r>
              <a:rPr lang="en" sz="1375"/>
              <a:t>factors</a:t>
            </a:r>
            <a:r>
              <a:rPr lang="en" sz="1375"/>
              <a:t>.</a:t>
            </a:r>
            <a:endParaRPr sz="1375"/>
          </a:p>
        </p:txBody>
      </p:sp>
      <p:pic>
        <p:nvPicPr>
          <p:cNvPr id="284" name="Google Shape;284;p14"/>
          <p:cNvPicPr preferRelativeResize="0"/>
          <p:nvPr/>
        </p:nvPicPr>
        <p:blipFill>
          <a:blip r:embed="rId3">
            <a:alphaModFix/>
          </a:blip>
          <a:stretch>
            <a:fillRect/>
          </a:stretch>
        </p:blipFill>
        <p:spPr>
          <a:xfrm>
            <a:off x="5283400" y="1916000"/>
            <a:ext cx="3233875" cy="2425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Objectives</a:t>
            </a:r>
            <a:endParaRPr/>
          </a:p>
        </p:txBody>
      </p:sp>
      <p:sp>
        <p:nvSpPr>
          <p:cNvPr id="290" name="Google Shape;290;p15"/>
          <p:cNvSpPr txBox="1"/>
          <p:nvPr>
            <p:ph idx="1" type="body"/>
          </p:nvPr>
        </p:nvSpPr>
        <p:spPr>
          <a:xfrm>
            <a:off x="1303800" y="2117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00000"/>
                </a:solidFill>
              </a:rPr>
              <a:t>- Identifying trivial features with higher predictive power for NCAA D1 Men’s basketball game outcomes.</a:t>
            </a:r>
            <a:endParaRPr>
              <a:solidFill>
                <a:srgbClr val="000000"/>
              </a:solidFill>
            </a:endParaRPr>
          </a:p>
          <a:p>
            <a:pPr indent="0" lvl="0" marL="0" rtl="0" algn="l">
              <a:spcBef>
                <a:spcPts val="1200"/>
              </a:spcBef>
              <a:spcAft>
                <a:spcPts val="0"/>
              </a:spcAft>
              <a:buNone/>
            </a:pPr>
            <a:r>
              <a:rPr lang="en">
                <a:solidFill>
                  <a:srgbClr val="000000"/>
                </a:solidFill>
              </a:rPr>
              <a:t>- Constructing a dataset consisting of both trivial and conventional predictive features related to a collection of past games.</a:t>
            </a:r>
            <a:endParaRPr>
              <a:solidFill>
                <a:srgbClr val="000000"/>
              </a:solidFill>
            </a:endParaRPr>
          </a:p>
          <a:p>
            <a:pPr indent="0" lvl="0" marL="0" rtl="0" algn="l">
              <a:spcBef>
                <a:spcPts val="1200"/>
              </a:spcBef>
              <a:spcAft>
                <a:spcPts val="0"/>
              </a:spcAft>
              <a:buNone/>
            </a:pPr>
            <a:r>
              <a:rPr lang="en">
                <a:solidFill>
                  <a:srgbClr val="000000"/>
                </a:solidFill>
              </a:rPr>
              <a:t>- Assessing the predictive value of trivial features compared to conventional ones.</a:t>
            </a:r>
            <a:endParaRPr>
              <a:solidFill>
                <a:srgbClr val="000000"/>
              </a:solidFill>
            </a:endParaRPr>
          </a:p>
          <a:p>
            <a:pPr indent="0" lvl="0" marL="0" rtl="0" algn="l">
              <a:spcBef>
                <a:spcPts val="0"/>
              </a:spcBef>
              <a:spcAft>
                <a:spcPts val="0"/>
              </a:spcAft>
              <a:buNone/>
            </a:pPr>
            <a:r>
              <a:t/>
            </a:r>
            <a:endParaRPr>
              <a:solidFill>
                <a:srgbClr val="000000"/>
              </a:solidFill>
            </a:endParaRPr>
          </a:p>
          <a:p>
            <a:pPr indent="0" lvl="0" marL="0" rtl="0" algn="l">
              <a:spcBef>
                <a:spcPts val="0"/>
              </a:spcBef>
              <a:spcAft>
                <a:spcPts val="0"/>
              </a:spcAft>
              <a:buNone/>
            </a:pPr>
            <a:r>
              <a:rPr lang="en">
                <a:solidFill>
                  <a:srgbClr val="000000"/>
                </a:solidFill>
              </a:rPr>
              <a:t>- Developing insights into the overlooked aspects that may influence game outcomes.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Identifying Trivial Features</a:t>
            </a:r>
            <a:endParaRPr/>
          </a:p>
        </p:txBody>
      </p:sp>
      <p:sp>
        <p:nvSpPr>
          <p:cNvPr id="296" name="Google Shape;296;p16"/>
          <p:cNvSpPr txBox="1"/>
          <p:nvPr>
            <p:ph idx="1" type="body"/>
          </p:nvPr>
        </p:nvSpPr>
        <p:spPr>
          <a:xfrm>
            <a:off x="1303800" y="222540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 began with brainstorming and conducting research to choose factors that we thought could contribute to the outcome of a game and would be practical to </a:t>
            </a:r>
            <a:r>
              <a:rPr lang="en"/>
              <a:t>collect</a:t>
            </a:r>
            <a:r>
              <a:rPr lang="en"/>
              <a:t>. Maybe the temperature at a given game would affect the outcome, but it would be impractical to find the temperature at every time/location for 1000+ games. We found more general and identifiable factors like: stadium attendance, program budget, university enrollment, average team </a:t>
            </a:r>
            <a:r>
              <a:rPr lang="en"/>
              <a:t>attendance</a:t>
            </a:r>
            <a:r>
              <a:rPr lang="en"/>
              <a:t>, and </a:t>
            </a:r>
            <a:r>
              <a:rPr lang="en"/>
              <a:t>venue</a:t>
            </a:r>
            <a:r>
              <a:rPr lang="en"/>
              <a:t> capacity. The  After choosing what we wanted to explore we </a:t>
            </a:r>
            <a:r>
              <a:rPr lang="en"/>
              <a:t>could</a:t>
            </a:r>
            <a:r>
              <a:rPr lang="en"/>
              <a:t> begin procuring data.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7"/>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Constructing a Dataset</a:t>
            </a:r>
            <a:endParaRPr/>
          </a:p>
          <a:p>
            <a:pPr indent="0" lvl="0" marL="0" rtl="0" algn="l">
              <a:spcBef>
                <a:spcPts val="0"/>
              </a:spcBef>
              <a:spcAft>
                <a:spcPts val="0"/>
              </a:spcAft>
              <a:buNone/>
            </a:pPr>
            <a:r>
              <a:t/>
            </a:r>
            <a:endParaRPr/>
          </a:p>
        </p:txBody>
      </p:sp>
      <p:sp>
        <p:nvSpPr>
          <p:cNvPr id="302" name="Google Shape;302;p17"/>
          <p:cNvSpPr txBox="1"/>
          <p:nvPr>
            <p:ph idx="1" type="body"/>
          </p:nvPr>
        </p:nvSpPr>
        <p:spPr>
          <a:xfrm>
            <a:off x="1303800" y="1156275"/>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After identifying the trivial factors that we wanted to further investigate, we began our mission of </a:t>
            </a:r>
            <a:r>
              <a:rPr lang="en"/>
              <a:t>constructing</a:t>
            </a:r>
            <a:r>
              <a:rPr lang="en"/>
              <a:t> a dataset. To do this, we first conducted research to find a large library of past NCAA D1 </a:t>
            </a:r>
            <a:r>
              <a:rPr lang="en"/>
              <a:t>Men's</a:t>
            </a:r>
            <a:r>
              <a:rPr lang="en"/>
              <a:t> basketball games. This is important because it develops a baseline for our model to go off of. Without this historical data we would not be able to gauge the importance that </a:t>
            </a:r>
            <a:r>
              <a:rPr lang="en"/>
              <a:t>each</a:t>
            </a:r>
            <a:r>
              <a:rPr lang="en"/>
              <a:t> of these obscure factors may or may not have. Apart from that, we collected data for our trivial features such as stadium attendance at each game, </a:t>
            </a:r>
            <a:r>
              <a:rPr lang="en"/>
              <a:t>basketball</a:t>
            </a:r>
            <a:r>
              <a:rPr lang="en"/>
              <a:t> team expenses, total undergraduates, and more for each D1 school from varying sources. After gathering all these datasets, we utilized pandas to clean and merge them all into one large dataframe.</a:t>
            </a:r>
            <a:endParaRPr/>
          </a:p>
        </p:txBody>
      </p:sp>
      <p:pic>
        <p:nvPicPr>
          <p:cNvPr id="303" name="Google Shape;303;p17"/>
          <p:cNvPicPr preferRelativeResize="0"/>
          <p:nvPr/>
        </p:nvPicPr>
        <p:blipFill>
          <a:blip r:embed="rId3">
            <a:alphaModFix/>
          </a:blip>
          <a:stretch>
            <a:fillRect/>
          </a:stretch>
        </p:blipFill>
        <p:spPr>
          <a:xfrm>
            <a:off x="152400" y="3768075"/>
            <a:ext cx="8839201" cy="85048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8"/>
          <p:cNvSpPr txBox="1"/>
          <p:nvPr>
            <p:ph type="title"/>
          </p:nvPr>
        </p:nvSpPr>
        <p:spPr>
          <a:xfrm>
            <a:off x="1303800" y="117100"/>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Method: mutual_info_regression</a:t>
            </a:r>
            <a:endParaRPr/>
          </a:p>
        </p:txBody>
      </p:sp>
      <p:sp>
        <p:nvSpPr>
          <p:cNvPr id="309" name="Google Shape;309;p18"/>
          <p:cNvSpPr txBox="1"/>
          <p:nvPr>
            <p:ph idx="1" type="body"/>
          </p:nvPr>
        </p:nvSpPr>
        <p:spPr>
          <a:xfrm>
            <a:off x="928000" y="1684750"/>
            <a:ext cx="35367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first and simplest method was to utilize sklearn.mutual_info_regression which measures the dependency of output features for each input feature and is independent of the shape of correlation.</a:t>
            </a:r>
            <a:endParaRPr/>
          </a:p>
        </p:txBody>
      </p:sp>
      <p:pic>
        <p:nvPicPr>
          <p:cNvPr id="310" name="Google Shape;310;p18"/>
          <p:cNvPicPr preferRelativeResize="0"/>
          <p:nvPr/>
        </p:nvPicPr>
        <p:blipFill>
          <a:blip r:embed="rId3">
            <a:alphaModFix/>
          </a:blip>
          <a:stretch>
            <a:fillRect/>
          </a:stretch>
        </p:blipFill>
        <p:spPr>
          <a:xfrm>
            <a:off x="4617100" y="1268800"/>
            <a:ext cx="3769761" cy="3722300"/>
          </a:xfrm>
          <a:prstGeom prst="rect">
            <a:avLst/>
          </a:prstGeom>
          <a:noFill/>
          <a:ln>
            <a:noFill/>
          </a:ln>
        </p:spPr>
      </p:pic>
      <p:pic>
        <p:nvPicPr>
          <p:cNvPr id="311" name="Google Shape;311;p18"/>
          <p:cNvPicPr preferRelativeResize="0"/>
          <p:nvPr/>
        </p:nvPicPr>
        <p:blipFill>
          <a:blip r:embed="rId4">
            <a:alphaModFix/>
          </a:blip>
          <a:stretch>
            <a:fillRect/>
          </a:stretch>
        </p:blipFill>
        <p:spPr>
          <a:xfrm>
            <a:off x="259700" y="3721125"/>
            <a:ext cx="4312301" cy="42669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Method: permutation_importance</a:t>
            </a:r>
            <a:endParaRPr/>
          </a:p>
        </p:txBody>
      </p:sp>
      <p:sp>
        <p:nvSpPr>
          <p:cNvPr id="317" name="Google Shape;317;p19"/>
          <p:cNvSpPr txBox="1"/>
          <p:nvPr>
            <p:ph idx="1" type="body"/>
          </p:nvPr>
        </p:nvSpPr>
        <p:spPr>
          <a:xfrm>
            <a:off x="1239350" y="1438125"/>
            <a:ext cx="3489900" cy="1584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next method involved creating a simple Ridge regression model and </a:t>
            </a:r>
            <a:r>
              <a:rPr lang="en"/>
              <a:t>applying</a:t>
            </a:r>
            <a:r>
              <a:rPr lang="en"/>
              <a:t> permutation_importance from sklearn, which shuffles values for each feature and assesses how much the accuracy of the model decreases.</a:t>
            </a:r>
            <a:endParaRPr/>
          </a:p>
        </p:txBody>
      </p:sp>
      <p:pic>
        <p:nvPicPr>
          <p:cNvPr id="318" name="Google Shape;318;p19"/>
          <p:cNvPicPr preferRelativeResize="0"/>
          <p:nvPr/>
        </p:nvPicPr>
        <p:blipFill>
          <a:blip r:embed="rId3">
            <a:alphaModFix/>
          </a:blip>
          <a:stretch>
            <a:fillRect/>
          </a:stretch>
        </p:blipFill>
        <p:spPr>
          <a:xfrm>
            <a:off x="5180950" y="1386250"/>
            <a:ext cx="3282147" cy="3240825"/>
          </a:xfrm>
          <a:prstGeom prst="rect">
            <a:avLst/>
          </a:prstGeom>
          <a:noFill/>
          <a:ln>
            <a:noFill/>
          </a:ln>
        </p:spPr>
      </p:pic>
      <p:pic>
        <p:nvPicPr>
          <p:cNvPr id="319" name="Google Shape;319;p19"/>
          <p:cNvPicPr preferRelativeResize="0"/>
          <p:nvPr/>
        </p:nvPicPr>
        <p:blipFill>
          <a:blip r:embed="rId4">
            <a:alphaModFix/>
          </a:blip>
          <a:stretch>
            <a:fillRect/>
          </a:stretch>
        </p:blipFill>
        <p:spPr>
          <a:xfrm>
            <a:off x="80976" y="4009100"/>
            <a:ext cx="5474074" cy="860500"/>
          </a:xfrm>
          <a:prstGeom prst="rect">
            <a:avLst/>
          </a:prstGeom>
          <a:noFill/>
          <a:ln>
            <a:noFill/>
          </a:ln>
        </p:spPr>
      </p:pic>
      <p:pic>
        <p:nvPicPr>
          <p:cNvPr id="320" name="Google Shape;320;p19"/>
          <p:cNvPicPr preferRelativeResize="0"/>
          <p:nvPr/>
        </p:nvPicPr>
        <p:blipFill>
          <a:blip r:embed="rId5">
            <a:alphaModFix/>
          </a:blip>
          <a:stretch>
            <a:fillRect/>
          </a:stretch>
        </p:blipFill>
        <p:spPr>
          <a:xfrm>
            <a:off x="80975" y="2881224"/>
            <a:ext cx="3619339" cy="999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0"/>
          <p:cNvSpPr txBox="1"/>
          <p:nvPr>
            <p:ph type="title"/>
          </p:nvPr>
        </p:nvSpPr>
        <p:spPr>
          <a:xfrm>
            <a:off x="1303800" y="4163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Method: Random Forest Classifier</a:t>
            </a:r>
            <a:endParaRPr/>
          </a:p>
        </p:txBody>
      </p:sp>
      <p:sp>
        <p:nvSpPr>
          <p:cNvPr id="326" name="Google Shape;326;p20"/>
          <p:cNvSpPr txBox="1"/>
          <p:nvPr>
            <p:ph idx="1" type="body"/>
          </p:nvPr>
        </p:nvSpPr>
        <p:spPr>
          <a:xfrm>
            <a:off x="454800" y="1415675"/>
            <a:ext cx="4033500" cy="2798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a:t>
            </a:r>
            <a:r>
              <a:rPr lang="en"/>
              <a:t>e implemented a Random Forest classification model to draw correlations between the historical data and trivial factors. </a:t>
            </a:r>
            <a:r>
              <a:rPr lang="en">
                <a:solidFill>
                  <a:srgbClr val="000000"/>
                </a:solidFill>
              </a:rPr>
              <a:t>The model was evaluated for its ability to accurately predict the binary outcome of a game with wins and losses being denoted by 1 and 0 respectively. The Random Forest Classification model had 65.86% accuracy. </a:t>
            </a:r>
            <a:endParaRPr>
              <a:highlight>
                <a:srgbClr val="FFFF00"/>
              </a:highlight>
            </a:endParaRPr>
          </a:p>
        </p:txBody>
      </p:sp>
      <p:pic>
        <p:nvPicPr>
          <p:cNvPr id="327" name="Google Shape;327;p20"/>
          <p:cNvPicPr preferRelativeResize="0"/>
          <p:nvPr/>
        </p:nvPicPr>
        <p:blipFill>
          <a:blip r:embed="rId3">
            <a:alphaModFix/>
          </a:blip>
          <a:stretch>
            <a:fillRect/>
          </a:stretch>
        </p:blipFill>
        <p:spPr>
          <a:xfrm>
            <a:off x="4966325" y="1924750"/>
            <a:ext cx="3990975" cy="1552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Observations</a:t>
            </a:r>
            <a:endParaRPr/>
          </a:p>
        </p:txBody>
      </p:sp>
      <p:sp>
        <p:nvSpPr>
          <p:cNvPr id="333" name="Google Shape;333;p21"/>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00000"/>
                </a:solidFill>
              </a:rPr>
              <a:t>The outputs for the first two methods are surprising. </a:t>
            </a:r>
            <a:r>
              <a:rPr lang="en">
                <a:solidFill>
                  <a:srgbClr val="000000"/>
                </a:solidFill>
              </a:rPr>
              <a:t>Venue</a:t>
            </a:r>
            <a:r>
              <a:rPr lang="en">
                <a:solidFill>
                  <a:srgbClr val="000000"/>
                </a:solidFill>
              </a:rPr>
              <a:t> capacity and total enrollment are </a:t>
            </a:r>
            <a:r>
              <a:rPr lang="en">
                <a:solidFill>
                  <a:srgbClr val="000000"/>
                </a:solidFill>
              </a:rPr>
              <a:t>consistently</a:t>
            </a:r>
            <a:r>
              <a:rPr lang="en">
                <a:solidFill>
                  <a:srgbClr val="000000"/>
                </a:solidFill>
              </a:rPr>
              <a:t> unimportant while budget and average </a:t>
            </a:r>
            <a:r>
              <a:rPr lang="en">
                <a:solidFill>
                  <a:srgbClr val="000000"/>
                </a:solidFill>
              </a:rPr>
              <a:t>attendance</a:t>
            </a:r>
            <a:r>
              <a:rPr lang="en">
                <a:solidFill>
                  <a:srgbClr val="000000"/>
                </a:solidFill>
              </a:rPr>
              <a:t> are consistently of high importance. The achieved model accuracy of 65.89% with a Random Forest classifier indicates a moderate level of predictive power, considering the unconventional nature of the feature set utilized. From this we can conclude that trivial factors such as total enrollment and program budget should hold power in the process of predicting game outcomes. This is an impactful insight since sports prediction is a huge sector, and </a:t>
            </a:r>
            <a:r>
              <a:rPr lang="en">
                <a:solidFill>
                  <a:srgbClr val="000000"/>
                </a:solidFill>
              </a:rPr>
              <a:t>analysts</a:t>
            </a:r>
            <a:r>
              <a:rPr lang="en">
                <a:solidFill>
                  <a:srgbClr val="000000"/>
                </a:solidFill>
              </a:rPr>
              <a:t> are </a:t>
            </a:r>
            <a:r>
              <a:rPr lang="en">
                <a:solidFill>
                  <a:srgbClr val="000000"/>
                </a:solidFill>
              </a:rPr>
              <a:t>constantly</a:t>
            </a:r>
            <a:r>
              <a:rPr lang="en">
                <a:solidFill>
                  <a:srgbClr val="000000"/>
                </a:solidFill>
              </a:rPr>
              <a:t> searching for </a:t>
            </a:r>
            <a:r>
              <a:rPr lang="en">
                <a:solidFill>
                  <a:srgbClr val="000000"/>
                </a:solidFill>
              </a:rPr>
              <a:t>additional</a:t>
            </a:r>
            <a:r>
              <a:rPr lang="en">
                <a:solidFill>
                  <a:srgbClr val="000000"/>
                </a:solidFill>
              </a:rPr>
              <a:t> information to sway their prediction when two teams seems evenly matched.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Limitations</a:t>
            </a:r>
            <a:endParaRPr/>
          </a:p>
        </p:txBody>
      </p:sp>
      <p:sp>
        <p:nvSpPr>
          <p:cNvPr id="339" name="Google Shape;339;p22"/>
          <p:cNvSpPr txBox="1"/>
          <p:nvPr>
            <p:ph idx="1" type="body"/>
          </p:nvPr>
        </p:nvSpPr>
        <p:spPr>
          <a:xfrm>
            <a:off x="1303800" y="2112875"/>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While an accuracy rate of 65.86% is promising, it also displays signs of imperfections. There are a few factors that could have </a:t>
            </a:r>
            <a:r>
              <a:rPr lang="en"/>
              <a:t>disrupted</a:t>
            </a:r>
            <a:r>
              <a:rPr lang="en"/>
              <a:t> the learning process of our model. The first one is the class imbalance within our dataset. Our dataset contained substantially more home team losses than wins that led to our models learning process favoring the outcome of a home team losing. The scope of the dataset was also a limiting factor. Whether trivial or not there are numerous factors that contribute to the outcome of a </a:t>
            </a:r>
            <a:r>
              <a:rPr lang="en"/>
              <a:t>basketball</a:t>
            </a:r>
            <a:r>
              <a:rPr lang="en"/>
              <a:t> game, and the more that are included, the better the model will learn and, consequently, increase the accuracy of the dataset. There were also limits in our resources and some concessions to data </a:t>
            </a:r>
            <a:r>
              <a:rPr lang="en"/>
              <a:t>relevance</a:t>
            </a:r>
            <a:r>
              <a:rPr lang="en"/>
              <a:t> had to be made. </a:t>
            </a:r>
            <a:endParaRPr/>
          </a:p>
        </p:txBody>
      </p:sp>
      <p:pic>
        <p:nvPicPr>
          <p:cNvPr id="340" name="Google Shape;340;p22"/>
          <p:cNvPicPr preferRelativeResize="0"/>
          <p:nvPr/>
        </p:nvPicPr>
        <p:blipFill>
          <a:blip r:embed="rId3">
            <a:alphaModFix/>
          </a:blip>
          <a:stretch>
            <a:fillRect/>
          </a:stretch>
        </p:blipFill>
        <p:spPr>
          <a:xfrm>
            <a:off x="5171650" y="104350"/>
            <a:ext cx="2712175" cy="2103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Future Work</a:t>
            </a:r>
            <a:endParaRPr/>
          </a:p>
        </p:txBody>
      </p:sp>
      <p:sp>
        <p:nvSpPr>
          <p:cNvPr id="346" name="Google Shape;346;p23"/>
          <p:cNvSpPr txBox="1"/>
          <p:nvPr>
            <p:ph idx="1" type="body"/>
          </p:nvPr>
        </p:nvSpPr>
        <p:spPr>
          <a:xfrm>
            <a:off x="1303800" y="22046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Our work may serve as a framework for future repetitions of our analysis. There are many techniques and resources designed to determine the importance of features in their </a:t>
            </a:r>
            <a:r>
              <a:rPr lang="en"/>
              <a:t>relation</a:t>
            </a:r>
            <a:r>
              <a:rPr lang="en"/>
              <a:t> to an outcome. Future recreations could follow </a:t>
            </a:r>
            <a:r>
              <a:rPr lang="en"/>
              <a:t>essentially</a:t>
            </a:r>
            <a:r>
              <a:rPr lang="en"/>
              <a:t> the same steps we did, but with more features, more samples, and more accuracy. If enough features were processed, groundbreaking discoveries could be made. If a certain factor of a game is discovered to be more predictive than anyone was aware of, it could change the way teams play in the league.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References</a:t>
            </a:r>
            <a:endParaRPr/>
          </a:p>
        </p:txBody>
      </p:sp>
      <p:sp>
        <p:nvSpPr>
          <p:cNvPr id="352" name="Google Shape;352;p2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fontScale="85000" lnSpcReduction="20000"/>
          </a:bodyPr>
          <a:lstStyle/>
          <a:p>
            <a:pPr indent="-293370" lvl="0" marL="457200" rtl="0" algn="l">
              <a:spcBef>
                <a:spcPts val="0"/>
              </a:spcBef>
              <a:spcAft>
                <a:spcPts val="0"/>
              </a:spcAft>
              <a:buClr>
                <a:srgbClr val="000000"/>
              </a:buClr>
              <a:buSzPct val="100000"/>
              <a:buFont typeface="Times New Roman"/>
              <a:buChar char="●"/>
            </a:pPr>
            <a:r>
              <a:rPr lang="en" sz="1200">
                <a:solidFill>
                  <a:srgbClr val="000000"/>
                </a:solidFill>
                <a:latin typeface="Times New Roman"/>
                <a:ea typeface="Times New Roman"/>
                <a:cs typeface="Times New Roman"/>
                <a:sym typeface="Times New Roman"/>
              </a:rPr>
              <a:t>Source for Dean Olivers “Four Factors of Basketball Success” </a:t>
            </a:r>
            <a:r>
              <a:rPr lang="en" sz="1200" u="sng">
                <a:solidFill>
                  <a:srgbClr val="1155CC"/>
                </a:solidFill>
                <a:latin typeface="Times New Roman"/>
                <a:ea typeface="Times New Roman"/>
                <a:cs typeface="Times New Roman"/>
                <a:sym typeface="Times New Roman"/>
                <a:hlinkClick r:id="rId3">
                  <a:extLst>
                    <a:ext uri="{A12FA001-AC4F-418D-AE19-62706E023703}">
                      <ahyp:hlinkClr val="tx"/>
                    </a:ext>
                  </a:extLst>
                </a:hlinkClick>
              </a:rPr>
              <a:t>https://aquicktimeout.com/dean-olivers-four-factors-for-basketball-success/</a:t>
            </a:r>
            <a:r>
              <a:rPr lang="en" sz="1200">
                <a:solidFill>
                  <a:srgbClr val="000000"/>
                </a:solidFill>
                <a:latin typeface="Times New Roman"/>
                <a:ea typeface="Times New Roman"/>
                <a:cs typeface="Times New Roman"/>
                <a:sym typeface="Times New Roman"/>
              </a:rPr>
              <a:t> </a:t>
            </a:r>
            <a:endParaRPr sz="1200">
              <a:solidFill>
                <a:srgbClr val="000000"/>
              </a:solidFill>
              <a:latin typeface="Times New Roman"/>
              <a:ea typeface="Times New Roman"/>
              <a:cs typeface="Times New Roman"/>
              <a:sym typeface="Times New Roman"/>
            </a:endParaRPr>
          </a:p>
          <a:p>
            <a:pPr indent="-293370" lvl="0" marL="457200" rtl="0" algn="l">
              <a:spcBef>
                <a:spcPts val="0"/>
              </a:spcBef>
              <a:spcAft>
                <a:spcPts val="0"/>
              </a:spcAft>
              <a:buClr>
                <a:srgbClr val="000000"/>
              </a:buClr>
              <a:buSzPct val="100000"/>
              <a:buFont typeface="Times New Roman"/>
              <a:buChar char="●"/>
            </a:pPr>
            <a:r>
              <a:rPr lang="en" sz="1200">
                <a:solidFill>
                  <a:srgbClr val="000000"/>
                </a:solidFill>
                <a:latin typeface="Times New Roman"/>
                <a:ea typeface="Times New Roman"/>
                <a:cs typeface="Times New Roman"/>
                <a:sym typeface="Times New Roman"/>
              </a:rPr>
              <a:t>Source for basketball budget data(article): </a:t>
            </a:r>
            <a:r>
              <a:rPr lang="en" sz="1200" u="sng">
                <a:solidFill>
                  <a:srgbClr val="1155CC"/>
                </a:solidFill>
                <a:latin typeface="Times New Roman"/>
                <a:ea typeface="Times New Roman"/>
                <a:cs typeface="Times New Roman"/>
                <a:sym typeface="Times New Roman"/>
                <a:hlinkClick r:id="rId4">
                  <a:extLst>
                    <a:ext uri="{A12FA001-AC4F-418D-AE19-62706E023703}">
                      <ahyp:hlinkClr val="tx"/>
                    </a:ext>
                  </a:extLst>
                </a:hlinkClick>
              </a:rPr>
              <a:t>https://www.three-man-weave.com/3mw/college-basketball-budgets-2022</a:t>
            </a:r>
            <a:endParaRPr sz="1200">
              <a:solidFill>
                <a:srgbClr val="000000"/>
              </a:solidFill>
              <a:latin typeface="Times New Roman"/>
              <a:ea typeface="Times New Roman"/>
              <a:cs typeface="Times New Roman"/>
              <a:sym typeface="Times New Roman"/>
            </a:endParaRPr>
          </a:p>
          <a:p>
            <a:pPr indent="-293370" lvl="0" marL="457200" rtl="0" algn="l">
              <a:spcBef>
                <a:spcPts val="0"/>
              </a:spcBef>
              <a:spcAft>
                <a:spcPts val="0"/>
              </a:spcAft>
              <a:buClr>
                <a:srgbClr val="000000"/>
              </a:buClr>
              <a:buSzPct val="100000"/>
              <a:buFont typeface="Times New Roman"/>
              <a:buChar char="●"/>
            </a:pPr>
            <a:r>
              <a:rPr lang="en" sz="1200">
                <a:solidFill>
                  <a:srgbClr val="000000"/>
                </a:solidFill>
                <a:latin typeface="Times New Roman"/>
                <a:ea typeface="Times New Roman"/>
                <a:cs typeface="Times New Roman"/>
                <a:sym typeface="Times New Roman"/>
              </a:rPr>
              <a:t>Government education database to get money spent on basketball program and university enrollment data: </a:t>
            </a:r>
            <a:r>
              <a:rPr lang="en" sz="1200" u="sng">
                <a:solidFill>
                  <a:srgbClr val="1155CC"/>
                </a:solidFill>
                <a:latin typeface="Times New Roman"/>
                <a:ea typeface="Times New Roman"/>
                <a:cs typeface="Times New Roman"/>
                <a:sym typeface="Times New Roman"/>
                <a:hlinkClick r:id="rId5">
                  <a:extLst>
                    <a:ext uri="{A12FA001-AC4F-418D-AE19-62706E023703}">
                      <ahyp:hlinkClr val="tx"/>
                    </a:ext>
                  </a:extLst>
                </a:hlinkClick>
              </a:rPr>
              <a:t>https://ope.ed.gov/athletics/#/</a:t>
            </a:r>
            <a:endParaRPr sz="1200">
              <a:solidFill>
                <a:srgbClr val="000000"/>
              </a:solidFill>
              <a:latin typeface="Times New Roman"/>
              <a:ea typeface="Times New Roman"/>
              <a:cs typeface="Times New Roman"/>
              <a:sym typeface="Times New Roman"/>
            </a:endParaRPr>
          </a:p>
          <a:p>
            <a:pPr indent="-293370" lvl="0" marL="457200" rtl="0" algn="l">
              <a:spcBef>
                <a:spcPts val="0"/>
              </a:spcBef>
              <a:spcAft>
                <a:spcPts val="0"/>
              </a:spcAft>
              <a:buClr>
                <a:srgbClr val="000000"/>
              </a:buClr>
              <a:buSzPct val="100000"/>
              <a:buFont typeface="Times New Roman"/>
              <a:buChar char="●"/>
            </a:pPr>
            <a:r>
              <a:rPr lang="en" sz="1200">
                <a:solidFill>
                  <a:srgbClr val="000000"/>
                </a:solidFill>
                <a:latin typeface="Times New Roman"/>
                <a:ea typeface="Times New Roman"/>
                <a:cs typeface="Times New Roman"/>
                <a:sym typeface="Times New Roman"/>
              </a:rPr>
              <a:t>NCAA Men's D1 attendance records: </a:t>
            </a:r>
            <a:r>
              <a:rPr lang="en" sz="1200" u="sng">
                <a:solidFill>
                  <a:srgbClr val="1155CC"/>
                </a:solidFill>
                <a:latin typeface="Times New Roman"/>
                <a:ea typeface="Times New Roman"/>
                <a:cs typeface="Times New Roman"/>
                <a:sym typeface="Times New Roman"/>
                <a:hlinkClick r:id="rId6">
                  <a:extLst>
                    <a:ext uri="{A12FA001-AC4F-418D-AE19-62706E023703}">
                      <ahyp:hlinkClr val="tx"/>
                    </a:ext>
                  </a:extLst>
                </a:hlinkClick>
              </a:rPr>
              <a:t>http://fs.ncaa.org/Docs/stats/m_basketball_RB/2024/Attend.pdf</a:t>
            </a:r>
            <a:endParaRPr sz="1200">
              <a:solidFill>
                <a:srgbClr val="000000"/>
              </a:solidFill>
              <a:latin typeface="Times New Roman"/>
              <a:ea typeface="Times New Roman"/>
              <a:cs typeface="Times New Roman"/>
              <a:sym typeface="Times New Roman"/>
            </a:endParaRPr>
          </a:p>
          <a:p>
            <a:pPr indent="-293370" lvl="0" marL="457200" rtl="0" algn="l">
              <a:spcBef>
                <a:spcPts val="0"/>
              </a:spcBef>
              <a:spcAft>
                <a:spcPts val="0"/>
              </a:spcAft>
              <a:buClr>
                <a:srgbClr val="000000"/>
              </a:buClr>
              <a:buSzPct val="100000"/>
              <a:buFont typeface="Times New Roman"/>
              <a:buChar char="●"/>
            </a:pPr>
            <a:r>
              <a:rPr lang="en" sz="1200">
                <a:solidFill>
                  <a:srgbClr val="000000"/>
                </a:solidFill>
                <a:latin typeface="Times New Roman"/>
                <a:ea typeface="Times New Roman"/>
                <a:cs typeface="Times New Roman"/>
                <a:sym typeface="Times New Roman"/>
              </a:rPr>
              <a:t>sklearn Mutual regression classifier documentation: </a:t>
            </a:r>
            <a:r>
              <a:rPr lang="en" sz="1200" u="sng">
                <a:solidFill>
                  <a:srgbClr val="1155CC"/>
                </a:solidFill>
                <a:latin typeface="Times New Roman"/>
                <a:ea typeface="Times New Roman"/>
                <a:cs typeface="Times New Roman"/>
                <a:sym typeface="Times New Roman"/>
                <a:hlinkClick r:id="rId7">
                  <a:extLst>
                    <a:ext uri="{A12FA001-AC4F-418D-AE19-62706E023703}">
                      <ahyp:hlinkClr val="tx"/>
                    </a:ext>
                  </a:extLst>
                </a:hlinkClick>
              </a:rPr>
              <a:t>https://scikit-learn.org/stable/modules/generated/sklearn.feature_selection.mutual_info_regression.html</a:t>
            </a:r>
            <a:endParaRPr sz="1200">
              <a:solidFill>
                <a:srgbClr val="000000"/>
              </a:solidFill>
              <a:latin typeface="Times New Roman"/>
              <a:ea typeface="Times New Roman"/>
              <a:cs typeface="Times New Roman"/>
              <a:sym typeface="Times New Roman"/>
            </a:endParaRPr>
          </a:p>
          <a:p>
            <a:pPr indent="-293370" lvl="0" marL="457200" rtl="0" algn="l">
              <a:spcBef>
                <a:spcPts val="0"/>
              </a:spcBef>
              <a:spcAft>
                <a:spcPts val="0"/>
              </a:spcAft>
              <a:buClr>
                <a:srgbClr val="000000"/>
              </a:buClr>
              <a:buSzPct val="100000"/>
              <a:buFont typeface="Times New Roman"/>
              <a:buChar char="●"/>
            </a:pPr>
            <a:r>
              <a:rPr lang="en" sz="1200">
                <a:solidFill>
                  <a:srgbClr val="000000"/>
                </a:solidFill>
                <a:latin typeface="Times New Roman"/>
                <a:ea typeface="Times New Roman"/>
                <a:cs typeface="Times New Roman"/>
                <a:sym typeface="Times New Roman"/>
              </a:rPr>
              <a:t>sklearn RandomForestClassifier documentation: </a:t>
            </a:r>
            <a:r>
              <a:rPr lang="en" sz="1200" u="sng">
                <a:solidFill>
                  <a:srgbClr val="1155CC"/>
                </a:solidFill>
                <a:latin typeface="Times New Roman"/>
                <a:ea typeface="Times New Roman"/>
                <a:cs typeface="Times New Roman"/>
                <a:sym typeface="Times New Roman"/>
                <a:hlinkClick r:id="rId8">
                  <a:extLst>
                    <a:ext uri="{A12FA001-AC4F-418D-AE19-62706E023703}">
                      <ahyp:hlinkClr val="tx"/>
                    </a:ext>
                  </a:extLst>
                </a:hlinkClick>
              </a:rPr>
              <a:t>https://scikit-learn.org/stable/modules/generated/sklearn.ensemble.RandomForestClassifier.html</a:t>
            </a:r>
            <a:endParaRPr sz="1200">
              <a:solidFill>
                <a:srgbClr val="000000"/>
              </a:solidFill>
              <a:latin typeface="Times New Roman"/>
              <a:ea typeface="Times New Roman"/>
              <a:cs typeface="Times New Roman"/>
              <a:sym typeface="Times New Roman"/>
            </a:endParaRPr>
          </a:p>
          <a:p>
            <a:pPr indent="-293370" lvl="0" marL="457200" rtl="0" algn="l">
              <a:spcBef>
                <a:spcPts val="0"/>
              </a:spcBef>
              <a:spcAft>
                <a:spcPts val="0"/>
              </a:spcAft>
              <a:buClr>
                <a:srgbClr val="000000"/>
              </a:buClr>
              <a:buSzPct val="100000"/>
              <a:buFont typeface="Times New Roman"/>
              <a:buChar char="●"/>
            </a:pPr>
            <a:r>
              <a:rPr lang="en" sz="1200">
                <a:solidFill>
                  <a:srgbClr val="000000"/>
                </a:solidFill>
                <a:latin typeface="Times New Roman"/>
                <a:ea typeface="Times New Roman"/>
                <a:cs typeface="Times New Roman"/>
                <a:sym typeface="Times New Roman"/>
              </a:rPr>
              <a:t>Source for general non-trivial team data of all D1 teams: </a:t>
            </a:r>
            <a:r>
              <a:rPr lang="en" sz="1200" u="sng">
                <a:solidFill>
                  <a:srgbClr val="1155CC"/>
                </a:solidFill>
                <a:latin typeface="Times New Roman"/>
                <a:ea typeface="Times New Roman"/>
                <a:cs typeface="Times New Roman"/>
                <a:sym typeface="Times New Roman"/>
                <a:hlinkClick r:id="rId9">
                  <a:extLst>
                    <a:ext uri="{A12FA001-AC4F-418D-AE19-62706E023703}">
                      <ahyp:hlinkClr val="tx"/>
                    </a:ext>
                  </a:extLst>
                </a:hlinkClick>
              </a:rPr>
              <a:t>https://stats.ncaa.org/rankings?sport_code=MBB</a:t>
            </a:r>
            <a:r>
              <a:rPr lang="en" sz="1200">
                <a:solidFill>
                  <a:srgbClr val="000000"/>
                </a:solidFill>
                <a:latin typeface="Times New Roman"/>
                <a:ea typeface="Times New Roman"/>
                <a:cs typeface="Times New Roman"/>
                <a:sym typeface="Times New Roman"/>
              </a:rPr>
              <a:t> </a:t>
            </a:r>
            <a:endParaRPr sz="1200">
              <a:solidFill>
                <a:srgbClr val="000000"/>
              </a:solidFill>
              <a:latin typeface="Times New Roman"/>
              <a:ea typeface="Times New Roman"/>
              <a:cs typeface="Times New Roman"/>
              <a:sym typeface="Times New Roman"/>
            </a:endParaRPr>
          </a:p>
          <a:p>
            <a:pPr indent="-293370" lvl="0" marL="457200" rtl="0" algn="l">
              <a:spcBef>
                <a:spcPts val="0"/>
              </a:spcBef>
              <a:spcAft>
                <a:spcPts val="0"/>
              </a:spcAft>
              <a:buClr>
                <a:srgbClr val="000000"/>
              </a:buClr>
              <a:buSzPct val="100000"/>
              <a:buFont typeface="Times New Roman"/>
              <a:buChar char="●"/>
            </a:pPr>
            <a:r>
              <a:rPr lang="en" sz="1200">
                <a:solidFill>
                  <a:srgbClr val="000000"/>
                </a:solidFill>
                <a:latin typeface="Times New Roman"/>
                <a:ea typeface="Times New Roman"/>
                <a:cs typeface="Times New Roman"/>
                <a:sym typeface="Times New Roman"/>
              </a:rPr>
              <a:t>Dataset of NCAA games: </a:t>
            </a:r>
            <a:r>
              <a:rPr lang="en" sz="1200" u="sng">
                <a:solidFill>
                  <a:srgbClr val="1155CC"/>
                </a:solidFill>
                <a:latin typeface="Times New Roman"/>
                <a:ea typeface="Times New Roman"/>
                <a:cs typeface="Times New Roman"/>
                <a:sym typeface="Times New Roman"/>
                <a:hlinkClick r:id="rId10">
                  <a:extLst>
                    <a:ext uri="{A12FA001-AC4F-418D-AE19-62706E023703}">
                      <ahyp:hlinkClr val="tx"/>
                    </a:ext>
                  </a:extLst>
                </a:hlinkClick>
              </a:rPr>
              <a:t>https://console.cloud.google.com/bigquery?p=bigquery-public-data&amp;d=ncaa_basketball&amp;page=dataset&amp;project=ecen-project-418021&amp;ws=!1m9!1m4!4m3!1sbigquery-public-data!2sncaa_basketball!3smbb_games_sr!1m3!3m2!1sbigquery-public-data!2sncaa_basketball&amp;authuser=1</a:t>
            </a:r>
            <a:endParaRPr>
              <a:solidFill>
                <a:srgbClr val="1155CC"/>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